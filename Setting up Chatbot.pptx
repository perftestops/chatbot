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460" r:id="rId3"/>
    <p:sldId id="461" r:id="rId4"/>
    <p:sldId id="462" r:id="rId5"/>
    <p:sldId id="463" r:id="rId6"/>
    <p:sldId id="464" r:id="rId7"/>
    <p:sldId id="465" r:id="rId8"/>
    <p:sldId id="466" r:id="rId9"/>
    <p:sldId id="467" r:id="rId10"/>
    <p:sldId id="468" r:id="rId11"/>
    <p:sldId id="469" r:id="rId12"/>
    <p:sldId id="470" r:id="rId13"/>
    <p:sldId id="471" r:id="rId14"/>
    <p:sldId id="472" r:id="rId15"/>
    <p:sldId id="473" r:id="rId16"/>
    <p:sldId id="474" r:id="rId17"/>
    <p:sldId id="475" r:id="rId18"/>
    <p:sldId id="476" r:id="rId19"/>
    <p:sldId id="477" r:id="rId20"/>
    <p:sldId id="479" r:id="rId21"/>
    <p:sldId id="480" r:id="rId22"/>
    <p:sldId id="481" r:id="rId23"/>
    <p:sldId id="478" r:id="rId24"/>
    <p:sldId id="482" r:id="rId25"/>
    <p:sldId id="483" r:id="rId26"/>
    <p:sldId id="484" r:id="rId27"/>
    <p:sldId id="485" r:id="rId28"/>
    <p:sldId id="486" r:id="rId29"/>
    <p:sldId id="487" r:id="rId30"/>
    <p:sldId id="488" r:id="rId31"/>
    <p:sldId id="489" r:id="rId32"/>
    <p:sldId id="490" r:id="rId33"/>
    <p:sldId id="491" r:id="rId34"/>
    <p:sldId id="492" r:id="rId35"/>
    <p:sldId id="494" r:id="rId36"/>
    <p:sldId id="495" r:id="rId37"/>
    <p:sldId id="493" r:id="rId38"/>
    <p:sldId id="496" r:id="rId39"/>
    <p:sldId id="497" r:id="rId40"/>
    <p:sldId id="498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png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://localhost:8501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7DA38-2893-4828-B704-73F422DBF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3350846"/>
            <a:ext cx="9144000" cy="164149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Performance Testing</a:t>
            </a:r>
            <a:b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</a:b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of Chatbot</a:t>
            </a:r>
            <a:endParaRPr lang="en-IN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52C90C-60FE-4A5E-BCF6-A7F6568F8384}"/>
              </a:ext>
            </a:extLst>
          </p:cNvPr>
          <p:cNvSpPr txBox="1"/>
          <p:nvPr/>
        </p:nvSpPr>
        <p:spPr>
          <a:xfrm>
            <a:off x="1047750" y="822776"/>
            <a:ext cx="89535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i="1" dirty="0">
                <a:latin typeface="MS PGothic" panose="020B0600070205080204" pitchFamily="34" charset="-128"/>
                <a:ea typeface="MS PGothic" panose="020B0600070205080204" pitchFamily="34" charset="-128"/>
              </a:rPr>
              <a:t>Follow me at @ </a:t>
            </a:r>
            <a:r>
              <a:rPr lang="en-IN" sz="2500" dirty="0">
                <a:latin typeface="MS PGothic" panose="020B0600070205080204" pitchFamily="34" charset="-128"/>
                <a:ea typeface="MS PGothic" panose="020B0600070205080204" pitchFamily="34" charset="-128"/>
              </a:rPr>
              <a:t>www.linkedin.com/in/debraj-adhikari-8080a921</a:t>
            </a:r>
            <a:endParaRPr lang="en-IN" sz="2500" i="1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8ECC97-344F-471F-A0A9-635C3E53C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83" y="659542"/>
            <a:ext cx="748705" cy="73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7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We have used Python + </a:t>
            </a:r>
            <a:r>
              <a:rPr lang="en-US" sz="2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Streamlit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to setup a very basic chatbot on our local system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</a:p>
          <a:p>
            <a:endParaRPr lang="en-US" sz="2400" dirty="0">
              <a:solidFill>
                <a:srgbClr val="FF0000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I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AC35A9-6019-4171-BBA4-1797AC6D1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2780774"/>
            <a:ext cx="8975988" cy="361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98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Code in Python with </a:t>
            </a:r>
            <a:r>
              <a:rPr lang="en-US" sz="2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streamlit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library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</a:p>
          <a:p>
            <a:endParaRPr lang="en-US" sz="2400" dirty="0">
              <a:solidFill>
                <a:srgbClr val="FF0000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I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EF2D6C-E5F9-467B-B818-51F453543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225" y="2323271"/>
            <a:ext cx="8052077" cy="4376129"/>
          </a:xfrm>
          <a:prstGeom prst="rect">
            <a:avLst/>
          </a:prstGeom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3EF160A-AB02-4859-BBAE-76CEDBA4F6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611559"/>
              </p:ext>
            </p:extLst>
          </p:nvPr>
        </p:nvGraphicFramePr>
        <p:xfrm>
          <a:off x="967409" y="5505450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Packager Shell Object" showAsIcon="1" r:id="rId4" imgW="914597" imgH="806406" progId="Package">
                  <p:embed/>
                </p:oleObj>
              </mc:Choice>
              <mc:Fallback>
                <p:oleObj name="Packager Shell Object" showAsIcon="1" r:id="rId4" imgW="914597" imgH="80640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67409" y="5505450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2206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We will build a docker file for this chatbot and host it in the docker desktop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</a:p>
          <a:p>
            <a:endParaRPr lang="en-US" sz="2400" dirty="0">
              <a:solidFill>
                <a:srgbClr val="FF0000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I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3EF160A-AB02-4859-BBAE-76CEDBA4F6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7409" y="5505450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Packager Shell Object" showAsIcon="1" r:id="rId3" imgW="914597" imgH="806406" progId="Package">
                  <p:embed/>
                </p:oleObj>
              </mc:Choice>
              <mc:Fallback>
                <p:oleObj name="Packager Shell Object" showAsIcon="1" r:id="rId3" imgW="914597" imgH="806406" progId="Package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83EF160A-AB02-4859-BBAE-76CEDBA4F6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7409" y="5505450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41BF131-C1F3-46E3-B01C-7C01B60779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805" y="2724114"/>
            <a:ext cx="5626389" cy="140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35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Requirements.txt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</a:p>
          <a:p>
            <a:endParaRPr lang="en-US" sz="2400" dirty="0">
              <a:solidFill>
                <a:srgbClr val="FF0000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I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3EF160A-AB02-4859-BBAE-76CEDBA4F6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7409" y="5505450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Packager Shell Object" showAsIcon="1" r:id="rId3" imgW="914597" imgH="806406" progId="Package">
                  <p:embed/>
                </p:oleObj>
              </mc:Choice>
              <mc:Fallback>
                <p:oleObj name="Packager Shell Object" showAsIcon="1" r:id="rId3" imgW="914597" imgH="806406" progId="Package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83EF160A-AB02-4859-BBAE-76CEDBA4F6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7409" y="5505450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014458A-2074-406E-86BF-203625B357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4513" y="2711364"/>
            <a:ext cx="7264773" cy="332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22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Docker File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</a:p>
          <a:p>
            <a:endParaRPr lang="en-US" sz="2400" dirty="0">
              <a:solidFill>
                <a:srgbClr val="FF0000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I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8D8364-17BC-45C0-AE56-367274E97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97022"/>
            <a:ext cx="10579644" cy="39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104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Everything is ready now</a:t>
            </a:r>
          </a:p>
          <a:p>
            <a:pPr marL="457200" lvl="1" indent="0">
              <a:buNone/>
            </a:pPr>
            <a:endParaRPr lang="en-US" sz="28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sz="2800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Python </a:t>
            </a:r>
            <a:r>
              <a:rPr lang="en-US" sz="2800" dirty="0" err="1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streamlit</a:t>
            </a:r>
            <a:r>
              <a:rPr lang="en-US" sz="2800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Code</a:t>
            </a:r>
          </a:p>
          <a:p>
            <a:pPr marL="457200" lvl="1" indent="0">
              <a:buNone/>
            </a:pPr>
            <a:endParaRPr lang="en-US" sz="28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sz="2800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Requirements</a:t>
            </a:r>
          </a:p>
          <a:p>
            <a:pPr marL="457200" lvl="1" indent="0">
              <a:buNone/>
            </a:pPr>
            <a:endParaRPr lang="en-US" sz="28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sz="2800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Docker File</a:t>
            </a:r>
          </a:p>
          <a:p>
            <a:pPr marL="457200" lvl="1" indent="0">
              <a:buNone/>
            </a:pPr>
            <a:endParaRPr lang="en-US" sz="28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en-US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Now we will build the image and run the container on Docker desktop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</a:p>
          <a:p>
            <a:pPr marL="457200" lvl="1" indent="0">
              <a:buNone/>
            </a:pPr>
            <a:endParaRPr lang="en-US" sz="28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dirty="0">
              <a:solidFill>
                <a:srgbClr val="FF0000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IN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6" name="Graphic 5" descr="Checkmark">
            <a:extLst>
              <a:ext uri="{FF2B5EF4-FFF2-40B4-BE49-F238E27FC236}">
                <a16:creationId xmlns:a16="http://schemas.microsoft.com/office/drawing/2014/main" id="{69F14ECE-99FB-44A7-A247-63922896D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7825" y="2333625"/>
            <a:ext cx="914400" cy="914400"/>
          </a:xfrm>
          <a:prstGeom prst="rect">
            <a:avLst/>
          </a:prstGeom>
        </p:spPr>
      </p:pic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217BAE01-D588-4038-8FA3-447DC46A3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4425" y="3298825"/>
            <a:ext cx="914400" cy="914400"/>
          </a:xfrm>
          <a:prstGeom prst="rect">
            <a:avLst/>
          </a:prstGeom>
        </p:spPr>
      </p:pic>
      <p:pic>
        <p:nvPicPr>
          <p:cNvPr id="8" name="Graphic 7" descr="Checkmark">
            <a:extLst>
              <a:ext uri="{FF2B5EF4-FFF2-40B4-BE49-F238E27FC236}">
                <a16:creationId xmlns:a16="http://schemas.microsoft.com/office/drawing/2014/main" id="{6CA11ACC-67AA-41F2-A3A5-539A16412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4425" y="428069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388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 – Building Docker image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Building image: Give the command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	docker build -t </a:t>
            </a:r>
            <a:r>
              <a:rPr lang="en-US" sz="2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streamlit</a:t>
            </a:r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-chatbot .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</a:p>
          <a:p>
            <a:endParaRPr lang="en-US" sz="2400" dirty="0">
              <a:solidFill>
                <a:srgbClr val="FF0000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I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8476A-BB24-4624-91C4-DE5880857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277" y="3082849"/>
            <a:ext cx="8687246" cy="294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20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 – Building Docker image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Building image: Give the command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	docker build -t </a:t>
            </a:r>
            <a:r>
              <a:rPr lang="en-US" sz="2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streamlit</a:t>
            </a:r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-chatbot .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</a:p>
          <a:p>
            <a:endParaRPr lang="en-US" sz="2400" dirty="0">
              <a:solidFill>
                <a:srgbClr val="FF0000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I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F7D5AF-31A0-4A86-947C-AA2F5955C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252" y="3073323"/>
            <a:ext cx="8655495" cy="29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03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 – Building Docker image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Building image: Give the command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	docker build -t </a:t>
            </a:r>
            <a:r>
              <a:rPr lang="en-US" sz="2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streamlit</a:t>
            </a:r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-chatbot . We will see an image got created in docker desktop software app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</a:p>
          <a:p>
            <a:endParaRPr lang="en-US" sz="2400" dirty="0">
              <a:solidFill>
                <a:srgbClr val="FF0000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I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F8C3C-5A44-4CB2-8201-0103B9817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312" y="3240769"/>
            <a:ext cx="8271176" cy="325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589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 – Running the image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Running image: Give the command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	docker run -d -p 8501:8501 </a:t>
            </a:r>
            <a:r>
              <a:rPr lang="en-US" sz="2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streamlit</a:t>
            </a:r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-chatbot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</a:p>
          <a:p>
            <a:endParaRPr lang="en-US" sz="2400" dirty="0">
              <a:solidFill>
                <a:srgbClr val="FF0000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I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98608D-6716-45DE-AC85-EF0BA7F33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472" y="2987626"/>
            <a:ext cx="8865056" cy="189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995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 – Running the image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Running image: Give the command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	docker run -d -p 8501:8501 </a:t>
            </a:r>
            <a:r>
              <a:rPr lang="en-US" sz="2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streamlit</a:t>
            </a:r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-chatbot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</a:p>
          <a:p>
            <a:endParaRPr lang="en-US" sz="2400" dirty="0">
              <a:solidFill>
                <a:srgbClr val="FF0000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I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EA5581-B82A-4C17-9C7C-445F6B407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0" y="2794077"/>
            <a:ext cx="8071092" cy="369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80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Now launch </a:t>
            </a: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  <a:hlinkClick r:id="rId2"/>
              </a:rPr>
              <a:t>http://localhost:8501/</a:t>
            </a:r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8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8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8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8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As long as docker container is running the UI </a:t>
            </a:r>
            <a:r>
              <a:rPr lang="en-US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will show</a:t>
            </a:r>
            <a:endParaRPr lang="en-US" sz="28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</a:p>
          <a:p>
            <a:endParaRPr lang="en-US" sz="2400" dirty="0">
              <a:solidFill>
                <a:srgbClr val="FF0000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I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FC5454-B4DC-4394-9859-26F7D8D9A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155" y="2334333"/>
            <a:ext cx="9525490" cy="333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485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 – </a:t>
            </a:r>
            <a:r>
              <a:rPr lang="en-US" sz="4800" dirty="0" err="1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in Docker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a Docker container with an LLM engine so we can chat with it like a chatbot </a:t>
            </a:r>
            <a:endParaRPr lang="en-I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D405F1-705E-4C06-A5D0-2DBCBA22A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248913"/>
              </p:ext>
            </p:extLst>
          </p:nvPr>
        </p:nvGraphicFramePr>
        <p:xfrm>
          <a:off x="1120000" y="2768600"/>
          <a:ext cx="10515600" cy="3903051"/>
        </p:xfrm>
        <a:graphic>
          <a:graphicData uri="http://schemas.openxmlformats.org/drawingml/2006/table">
            <a:tbl>
              <a:tblPr/>
              <a:tblGrid>
                <a:gridCol w="2813825">
                  <a:extLst>
                    <a:ext uri="{9D8B030D-6E8A-4147-A177-3AD203B41FA5}">
                      <a16:colId xmlns:a16="http://schemas.microsoft.com/office/drawing/2014/main" val="2546804631"/>
                    </a:ext>
                  </a:extLst>
                </a:gridCol>
                <a:gridCol w="7701775">
                  <a:extLst>
                    <a:ext uri="{9D8B030D-6E8A-4147-A177-3AD203B41FA5}">
                      <a16:colId xmlns:a16="http://schemas.microsoft.com/office/drawing/2014/main" val="4152330720"/>
                    </a:ext>
                  </a:extLst>
                </a:gridCol>
              </a:tblGrid>
              <a:tr h="305357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MS PGothic" panose="020B0600070205080204" pitchFamily="34" charset="-128"/>
                          <a:ea typeface="MS PGothic" panose="020B0600070205080204" pitchFamily="34" charset="-128"/>
                        </a:rPr>
                        <a:t>Action</a:t>
                      </a:r>
                      <a:endParaRPr lang="en-IN" sz="2000" dirty="0"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MS PGothic" panose="020B0600070205080204" pitchFamily="34" charset="-128"/>
                          <a:ea typeface="MS PGothic" panose="020B0600070205080204" pitchFamily="34" charset="-128"/>
                        </a:rPr>
                        <a:t>Purpose</a:t>
                      </a:r>
                      <a:endParaRPr lang="en-IN" sz="2000" dirty="0"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516732"/>
                  </a:ext>
                </a:extLst>
              </a:tr>
              <a:tr h="716993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MS PGothic" panose="020B0600070205080204" pitchFamily="34" charset="-128"/>
                          <a:ea typeface="MS PGothic" panose="020B0600070205080204" pitchFamily="34" charset="-128"/>
                        </a:rPr>
                        <a:t>Choose an LLM engine</a:t>
                      </a:r>
                      <a:endParaRPr lang="en-IN" sz="2000"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MS PGothic" panose="020B0600070205080204" pitchFamily="34" charset="-128"/>
                          <a:ea typeface="MS PGothic" panose="020B0600070205080204" pitchFamily="34" charset="-128"/>
                        </a:rPr>
                        <a:t>Pick one that runs locally — e.g. </a:t>
                      </a:r>
                      <a:r>
                        <a:rPr lang="en-US" sz="2000" b="1">
                          <a:latin typeface="MS PGothic" panose="020B0600070205080204" pitchFamily="34" charset="-128"/>
                          <a:ea typeface="MS PGothic" panose="020B0600070205080204" pitchFamily="34" charset="-128"/>
                        </a:rPr>
                        <a:t>Ollama</a:t>
                      </a:r>
                      <a:r>
                        <a:rPr lang="en-US" sz="2000">
                          <a:latin typeface="MS PGothic" panose="020B0600070205080204" pitchFamily="34" charset="-128"/>
                          <a:ea typeface="MS PGothic" panose="020B0600070205080204" pitchFamily="34" charset="-128"/>
                        </a:rPr>
                        <a:t>, </a:t>
                      </a:r>
                      <a:r>
                        <a:rPr lang="en-US" sz="2000" b="1">
                          <a:latin typeface="MS PGothic" panose="020B0600070205080204" pitchFamily="34" charset="-128"/>
                          <a:ea typeface="MS PGothic" panose="020B0600070205080204" pitchFamily="34" charset="-128"/>
                        </a:rPr>
                        <a:t>LM Studio</a:t>
                      </a:r>
                      <a:r>
                        <a:rPr lang="en-US" sz="2000">
                          <a:latin typeface="MS PGothic" panose="020B0600070205080204" pitchFamily="34" charset="-128"/>
                          <a:ea typeface="MS PGothic" panose="020B0600070205080204" pitchFamily="34" charset="-128"/>
                        </a:rPr>
                        <a:t>, or </a:t>
                      </a:r>
                      <a:r>
                        <a:rPr lang="en-US" sz="2000" b="1">
                          <a:latin typeface="MS PGothic" panose="020B0600070205080204" pitchFamily="34" charset="-128"/>
                          <a:ea typeface="MS PGothic" panose="020B0600070205080204" pitchFamily="34" charset="-128"/>
                        </a:rPr>
                        <a:t>Text‑Generation‑WebUI</a:t>
                      </a:r>
                      <a:r>
                        <a:rPr lang="en-US" sz="2000">
                          <a:latin typeface="MS PGothic" panose="020B0600070205080204" pitchFamily="34" charset="-128"/>
                          <a:ea typeface="MS PGothic" panose="020B0600070205080204" pitchFamily="34" charset="-128"/>
                        </a:rPr>
                        <a:t> (for models like LLaMA, Mistral, or Falcon).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7995430"/>
                  </a:ext>
                </a:extLst>
              </a:tr>
              <a:tr h="514740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MS PGothic" panose="020B0600070205080204" pitchFamily="34" charset="-128"/>
                          <a:ea typeface="MS PGothic" panose="020B0600070205080204" pitchFamily="34" charset="-128"/>
                        </a:rPr>
                        <a:t>Create a Dockerfile</a:t>
                      </a:r>
                      <a:endParaRPr lang="en-IN" sz="2000"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MS PGothic" panose="020B0600070205080204" pitchFamily="34" charset="-128"/>
                          <a:ea typeface="MS PGothic" panose="020B0600070205080204" pitchFamily="34" charset="-128"/>
                        </a:rPr>
                        <a:t>Define the environment (base image, dependencies, ports).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0902353"/>
                  </a:ext>
                </a:extLst>
              </a:tr>
              <a:tr h="992410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MS PGothic" panose="020B0600070205080204" pitchFamily="34" charset="-128"/>
                          <a:ea typeface="MS PGothic" panose="020B0600070205080204" pitchFamily="34" charset="-128"/>
                        </a:rPr>
                        <a:t>Expose an API endpoint</a:t>
                      </a:r>
                      <a:endParaRPr lang="en-IN" sz="2000"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MS PGothic" panose="020B0600070205080204" pitchFamily="34" charset="-128"/>
                          <a:ea typeface="MS PGothic" panose="020B0600070205080204" pitchFamily="34" charset="-128"/>
                        </a:rPr>
                        <a:t>The container should serve a REST or WebSocket interface so you can send messages and receive responses.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8965728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MS PGothic" panose="020B0600070205080204" pitchFamily="34" charset="-128"/>
                          <a:ea typeface="MS PGothic" panose="020B0600070205080204" pitchFamily="34" charset="-128"/>
                        </a:rPr>
                        <a:t>Run the container</a:t>
                      </a:r>
                      <a:endParaRPr lang="en-IN" sz="2000"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MS PGothic" panose="020B0600070205080204" pitchFamily="34" charset="-128"/>
                          <a:ea typeface="MS PGothic" panose="020B0600070205080204" pitchFamily="34" charset="-128"/>
                        </a:rPr>
                        <a:t>Use docker build and docker run to start the LLM engine.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455527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MS PGothic" panose="020B0600070205080204" pitchFamily="34" charset="-128"/>
                          <a:ea typeface="MS PGothic" panose="020B0600070205080204" pitchFamily="34" charset="-128"/>
                        </a:rPr>
                        <a:t>Connect via client</a:t>
                      </a:r>
                      <a:endParaRPr lang="en-IN" sz="2000" dirty="0"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MS PGothic" panose="020B0600070205080204" pitchFamily="34" charset="-128"/>
                          <a:ea typeface="MS PGothic" panose="020B0600070205080204" pitchFamily="34" charset="-128"/>
                        </a:rPr>
                        <a:t>You can interact using curl, Python scripts, or a simple web UI — just like chatting with a bot.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977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3805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 – </a:t>
            </a:r>
            <a:r>
              <a:rPr lang="en-US" sz="4800" dirty="0" err="1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in Docker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Step A -&gt; Execute command: ‘docker pull </a:t>
            </a:r>
            <a:r>
              <a:rPr lang="en-US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/</a:t>
            </a:r>
            <a:r>
              <a:rPr lang="en-US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’</a:t>
            </a:r>
          </a:p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Through this step the docker image is being pulled from official </a:t>
            </a:r>
            <a:r>
              <a:rPr lang="en-US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site</a:t>
            </a:r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28F3D3-45F3-4ED4-A0D6-02457DC10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307" y="3429000"/>
            <a:ext cx="7493385" cy="265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431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 – </a:t>
            </a:r>
            <a:r>
              <a:rPr lang="en-US" sz="4800" dirty="0" err="1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in Docker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Step A -&gt; Building docker image</a:t>
            </a:r>
            <a:endParaRPr lang="en-I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7272F1-AC5F-4A35-A06A-5476521FA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58" y="3152716"/>
            <a:ext cx="6477333" cy="25528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34246D-06DB-42BE-99CF-979F8E0A7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74" y="3152716"/>
            <a:ext cx="6858352" cy="255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061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 – </a:t>
            </a:r>
            <a:r>
              <a:rPr lang="en-US" sz="4800" dirty="0" err="1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in Docker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Step A -&gt; Running docker container</a:t>
            </a:r>
          </a:p>
          <a:p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docker run -d -p 11434:11434 </a:t>
            </a:r>
            <a:r>
              <a:rPr lang="en-IN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/</a:t>
            </a:r>
            <a:r>
              <a:rPr lang="en-IN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7E1D1-67C3-4331-88C0-B2077C023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876" y="3429000"/>
            <a:ext cx="6769448" cy="20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42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 – </a:t>
            </a:r>
            <a:r>
              <a:rPr lang="en-US" sz="4800" dirty="0" err="1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in Docker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Step A -&gt; container is running as we see in Docker desktop</a:t>
            </a:r>
          </a:p>
          <a:p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docker run -d -p 11434:11434 </a:t>
            </a:r>
            <a:r>
              <a:rPr lang="en-IN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/</a:t>
            </a:r>
            <a:r>
              <a:rPr lang="en-IN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47A8D3-AF81-43BE-8870-7B2344F5E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961" y="2983424"/>
            <a:ext cx="7667878" cy="366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444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 – </a:t>
            </a:r>
            <a:r>
              <a:rPr lang="en-US" sz="4800" dirty="0" err="1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in Docker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Step B -&gt; build a chatbot </a:t>
            </a:r>
            <a:r>
              <a:rPr lang="en-US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api</a:t>
            </a: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(in python) where we can interact with </a:t>
            </a:r>
            <a:r>
              <a:rPr lang="en-US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engine at port 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11434 running llama2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E45E24-98A6-4F2E-9806-2EFB01406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729" y="2806599"/>
            <a:ext cx="9544541" cy="391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181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 – </a:t>
            </a:r>
            <a:r>
              <a:rPr lang="en-US" sz="4800" dirty="0" err="1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in Docker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Step B -&gt; Now we have to pull ‘llama2’ model inside the container</a:t>
            </a:r>
          </a:p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To do that we have to enter inside the container:</a:t>
            </a:r>
          </a:p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docker exec -it &lt;container-id / name&gt; bash</a:t>
            </a:r>
          </a:p>
          <a:p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9AC635-8FB5-4438-944A-06F42A76C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871" y="3768585"/>
            <a:ext cx="6972658" cy="272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871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 – </a:t>
            </a:r>
            <a:r>
              <a:rPr lang="en-US" sz="4800" dirty="0" err="1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in Docker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Step B -&gt; Now have to pull ‘llama2’ model inside the container</a:t>
            </a:r>
          </a:p>
          <a:p>
            <a:r>
              <a:rPr lang="en-US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pull llama2</a:t>
            </a:r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9DA95A-DFDA-4F17-AA16-4E0CD5FA3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444" y="3159059"/>
            <a:ext cx="7017111" cy="254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13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 – </a:t>
            </a:r>
            <a:r>
              <a:rPr lang="en-US" sz="4800" dirty="0" err="1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in Docker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Step B -&gt; Now have to pull ‘llama2’ model inside the container</a:t>
            </a:r>
          </a:p>
          <a:p>
            <a:r>
              <a:rPr lang="en-US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pull llama2</a:t>
            </a:r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330A55-1161-4F14-9C59-7CBD1593F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578" y="3219291"/>
            <a:ext cx="6674193" cy="30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96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 – </a:t>
            </a:r>
            <a:r>
              <a:rPr lang="en-US" sz="4800" dirty="0" err="1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in Docker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Step C -&gt; lets run the python script which will connect to </a:t>
            </a:r>
            <a:r>
              <a:rPr lang="en-US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and initiate a chat via command line</a:t>
            </a:r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EFD3B2-78FD-4FBA-9A22-304D43634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4" y="2689390"/>
            <a:ext cx="9010951" cy="401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16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up Chatbot – </a:t>
            </a:r>
            <a:r>
              <a:rPr lang="en-US" sz="4800" dirty="0" err="1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in Docker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Step C -&gt; lets run the python script which will connect to </a:t>
            </a:r>
            <a:r>
              <a:rPr lang="en-US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ollama</a:t>
            </a: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and initiate a chat via command line</a:t>
            </a:r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60DE9D-F578-4AA0-95C0-BE52527AD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773" y="2949486"/>
            <a:ext cx="6896454" cy="345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7339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Monitoring the Docker container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We want to see container CPU/memory graphs in Grafana, so we will go with </a:t>
            </a:r>
            <a:r>
              <a:rPr lang="en-US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cAdvisor</a:t>
            </a: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+ Prometheus + Grafana setup</a:t>
            </a:r>
          </a:p>
          <a:p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We will use Docker Compose file that spins up all three together so you don’t have to run them one by one</a:t>
            </a:r>
          </a:p>
          <a:p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lvl="1"/>
            <a:r>
              <a:rPr lang="en-IN" sz="28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docker-</a:t>
            </a:r>
            <a:r>
              <a:rPr lang="en-IN" sz="2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compose.yml</a:t>
            </a:r>
            <a:endParaRPr lang="en-IN" sz="28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lvl="1"/>
            <a:r>
              <a:rPr lang="en-IN" sz="2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prometheus.yml</a:t>
            </a:r>
            <a:endParaRPr lang="en-IN" sz="28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03614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Monitoring the Docker container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docker-</a:t>
            </a:r>
            <a:r>
              <a:rPr lang="en-IN" sz="32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compose.yml</a:t>
            </a:r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C715C9-05EA-4FC3-A41D-01A57B099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006" y="2478778"/>
            <a:ext cx="7575788" cy="421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126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Monitoring the Docker container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prometheus.yml</a:t>
            </a:r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AEA78C-2AA2-4A25-BBFF-EE9826108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570" y="3006667"/>
            <a:ext cx="9912859" cy="225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288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Monitoring the Docker container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Run docker compose: ‘docker compose up –d’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BC2971-E51A-45F1-8E90-E5099B77D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677" y="2381189"/>
            <a:ext cx="6731346" cy="23813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B553C5-E676-4DF7-B317-3D37F97AD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677" y="5019599"/>
            <a:ext cx="6724996" cy="147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606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Monitoring the Docker container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Open:</a:t>
            </a:r>
          </a:p>
          <a:p>
            <a:pPr marL="0" indent="0">
              <a:buNone/>
            </a:pPr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	Grafana → http://localhost:3000 (login: admin/admin)</a:t>
            </a:r>
          </a:p>
          <a:p>
            <a:pPr marL="0" indent="0">
              <a:buNone/>
            </a:pPr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	Prometheus → http://localhost:9090</a:t>
            </a:r>
          </a:p>
          <a:p>
            <a:pPr marL="0" indent="0">
              <a:buNone/>
            </a:pPr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	</a:t>
            </a:r>
            <a:r>
              <a:rPr lang="en-IN" sz="32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cAdvisor</a:t>
            </a: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→ http://localhost:8084</a:t>
            </a:r>
          </a:p>
        </p:txBody>
      </p:sp>
    </p:spTree>
    <p:extLst>
      <p:ext uri="{BB962C8B-B14F-4D97-AF65-F5344CB8AC3E}">
        <p14:creationId xmlns:p14="http://schemas.microsoft.com/office/powerpoint/2010/main" val="13727367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Monitoring the Docker container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Grafana → http://localhost:3000 (login: admin/admin)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331521-B417-4448-934F-C4657FE04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00" y="2462882"/>
            <a:ext cx="10515600" cy="408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36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Monitoring the Docker container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Prometheus - http://localhost:9090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741CE-92F5-4A6C-9041-72D8458F6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937" y="2530383"/>
            <a:ext cx="9989063" cy="356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5568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Monitoring the Docker container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cAdvisor</a:t>
            </a: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→ http://localhost:8084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D209EC-B386-4830-BB29-62284D39D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099" y="2504918"/>
            <a:ext cx="8039369" cy="398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362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Monitoring the Docker container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To monitor your Docker container usage in Grafana, you need three key pieces working together:</a:t>
            </a:r>
          </a:p>
          <a:p>
            <a:pPr marL="0" indent="0">
              <a:buNone/>
            </a:pPr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	</a:t>
            </a:r>
            <a:r>
              <a:rPr lang="en-IN" sz="32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cAdvisor</a:t>
            </a: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→ collects per‑container metrics (CPU, memory, network, disk).</a:t>
            </a:r>
          </a:p>
          <a:p>
            <a:pPr marL="0" indent="0">
              <a:buNone/>
            </a:pPr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	Prometheus → scrapes and stores those metrics.</a:t>
            </a:r>
          </a:p>
          <a:p>
            <a:pPr marL="0" indent="0">
              <a:buNone/>
            </a:pPr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	Grafana → visualizes the metrics with dashboards.</a:t>
            </a:r>
          </a:p>
        </p:txBody>
      </p:sp>
    </p:spTree>
    <p:extLst>
      <p:ext uri="{BB962C8B-B14F-4D97-AF65-F5344CB8AC3E}">
        <p14:creationId xmlns:p14="http://schemas.microsoft.com/office/powerpoint/2010/main" val="11780894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Monitoring the Docker container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Run Grafana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Start Grafana (http://localhost:3000).</a:t>
            </a:r>
          </a:p>
          <a:p>
            <a:pPr marL="0" indent="0">
              <a:buNone/>
            </a:pPr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Add Prometheus (http://prometheus:9090) as a data source.</a:t>
            </a:r>
          </a:p>
          <a:p>
            <a:pPr marL="0" indent="0">
              <a:buNone/>
            </a:pPr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94374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Monitoring the Docker container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from Grafana</a:t>
            </a:r>
          </a:p>
          <a:p>
            <a:pPr marL="0" indent="0">
              <a:buNone/>
            </a:pPr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629626-B3AD-4CD7-90B4-D763071E7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552" y="2415747"/>
            <a:ext cx="8734696" cy="395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0168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Monitoring the Docker container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Setting from Grafana</a:t>
            </a:r>
          </a:p>
          <a:p>
            <a:pPr marL="0" indent="0">
              <a:buNone/>
            </a:pPr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04851A-9964-4A0D-AF1D-B60ABD19C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49" y="2444662"/>
            <a:ext cx="11722702" cy="341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52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Monitoring the Docker container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Import a Docker Monitoring Dashboard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In Grafana, go to Dashboards → Import.</a:t>
            </a:r>
          </a:p>
          <a:p>
            <a:pPr marL="0" indent="0">
              <a:buNone/>
            </a:pPr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Use Dashboard ID 893 (Docker Monitoring with </a:t>
            </a:r>
            <a:r>
              <a:rPr lang="en-IN" sz="32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cAdvisor</a:t>
            </a: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+ Prometheus).</a:t>
            </a:r>
          </a:p>
          <a:p>
            <a:pPr marL="0" indent="0">
              <a:buNone/>
            </a:pPr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Select your Prometheus data source.</a:t>
            </a:r>
          </a:p>
        </p:txBody>
      </p:sp>
    </p:spTree>
    <p:extLst>
      <p:ext uri="{BB962C8B-B14F-4D97-AF65-F5344CB8AC3E}">
        <p14:creationId xmlns:p14="http://schemas.microsoft.com/office/powerpoint/2010/main" val="39291286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Monitoring the Docker container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Loading Dashboard 893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95D178-5161-4018-9CF3-2EA23A375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032" y="2469337"/>
            <a:ext cx="6689936" cy="414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0425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Monitoring the Docker container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Loading Dashboard 893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7ECA34-2F1A-469A-BD38-C1E9170A1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602159"/>
            <a:ext cx="8706152" cy="370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623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4743-EF65-4B58-A668-1F2B485B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Load test against the chat </a:t>
            </a:r>
            <a:r>
              <a:rPr lang="en-US" sz="4800" dirty="0" err="1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url</a:t>
            </a:r>
            <a:endParaRPr lang="en-IN" sz="4800" dirty="0">
              <a:solidFill>
                <a:schemeClr val="accent5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AB5B-EC74-4ADA-99B2-850BD0DA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We will create a </a:t>
            </a:r>
            <a:r>
              <a:rPr lang="en-IN" sz="32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jmx</a:t>
            </a: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file that will hit the chat </a:t>
            </a:r>
            <a:r>
              <a:rPr lang="en-IN" sz="32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url</a:t>
            </a:r>
            <a:r>
              <a:rPr lang="en-IN" sz="3200" dirty="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continuously and generate load on the docker container holding the </a:t>
            </a:r>
            <a:r>
              <a:rPr lang="en-IN" sz="32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llm</a:t>
            </a:r>
            <a:r>
              <a:rPr lang="en-IN" sz="3200">
                <a:solidFill>
                  <a:schemeClr val="accent3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engine</a:t>
            </a:r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273317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16921</TotalTime>
  <Words>1008</Words>
  <Application>Microsoft Office PowerPoint</Application>
  <PresentationFormat>Widescreen</PresentationFormat>
  <Paragraphs>193</Paragraphs>
  <Slides>40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MS PGothic</vt:lpstr>
      <vt:lpstr>Arial</vt:lpstr>
      <vt:lpstr>Corbel</vt:lpstr>
      <vt:lpstr>Microsoft Sans Serif</vt:lpstr>
      <vt:lpstr>Depth</vt:lpstr>
      <vt:lpstr>Packager Shell Object</vt:lpstr>
      <vt:lpstr>Performance Testing of Chatbot</vt:lpstr>
      <vt:lpstr>Setting up Chatbot</vt:lpstr>
      <vt:lpstr>Setting up Chatbot</vt:lpstr>
      <vt:lpstr>Setting up Chatbot</vt:lpstr>
      <vt:lpstr>Setting up Chatbot</vt:lpstr>
      <vt:lpstr>Setting up Chatbot</vt:lpstr>
      <vt:lpstr>Setting up Chatbot</vt:lpstr>
      <vt:lpstr>Setting up Chatbot – Building Docker image</vt:lpstr>
      <vt:lpstr>Setting up Chatbot – Building Docker image</vt:lpstr>
      <vt:lpstr>Setting up Chatbot – Building Docker image</vt:lpstr>
      <vt:lpstr>Setting up Chatbot – Running the image</vt:lpstr>
      <vt:lpstr>Setting up Chatbot – Running the image</vt:lpstr>
      <vt:lpstr>Setting up Chatbot</vt:lpstr>
      <vt:lpstr>Setting up Chatbot – Ollama in Docker</vt:lpstr>
      <vt:lpstr>Setting up Chatbot – Ollama in Docker</vt:lpstr>
      <vt:lpstr>Setting up Chatbot – Ollama in Docker</vt:lpstr>
      <vt:lpstr>Setting up Chatbot – Ollama in Docker</vt:lpstr>
      <vt:lpstr>Setting up Chatbot – Ollama in Docker</vt:lpstr>
      <vt:lpstr>Setting up Chatbot – Ollama in Docker</vt:lpstr>
      <vt:lpstr>Setting up Chatbot – Ollama in Docker</vt:lpstr>
      <vt:lpstr>Setting up Chatbot – Ollama in Docker</vt:lpstr>
      <vt:lpstr>Setting up Chatbot – Ollama in Docker</vt:lpstr>
      <vt:lpstr>Setting up Chatbot – Ollama in Docker</vt:lpstr>
      <vt:lpstr>Setting up Chatbot – Ollama in Docker</vt:lpstr>
      <vt:lpstr>Monitoring the Docker container</vt:lpstr>
      <vt:lpstr>Monitoring the Docker container</vt:lpstr>
      <vt:lpstr>Monitoring the Docker container</vt:lpstr>
      <vt:lpstr>Monitoring the Docker container</vt:lpstr>
      <vt:lpstr>Monitoring the Docker container</vt:lpstr>
      <vt:lpstr>Monitoring the Docker container</vt:lpstr>
      <vt:lpstr>Monitoring the Docker container</vt:lpstr>
      <vt:lpstr>Monitoring the Docker container</vt:lpstr>
      <vt:lpstr>Monitoring the Docker container</vt:lpstr>
      <vt:lpstr>Monitoring the Docker container</vt:lpstr>
      <vt:lpstr>Monitoring the Docker container</vt:lpstr>
      <vt:lpstr>Monitoring the Docker container</vt:lpstr>
      <vt:lpstr>Monitoring the Docker container</vt:lpstr>
      <vt:lpstr>Monitoring the Docker container</vt:lpstr>
      <vt:lpstr>Monitoring the Docker container</vt:lpstr>
      <vt:lpstr>Load test against the chat url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Cypress Automation</dc:title>
  <dc:creator>lenovo</dc:creator>
  <cp:lastModifiedBy>lenovo</cp:lastModifiedBy>
  <cp:revision>314</cp:revision>
  <dcterms:created xsi:type="dcterms:W3CDTF">2023-12-13T09:25:12Z</dcterms:created>
  <dcterms:modified xsi:type="dcterms:W3CDTF">2026-04-12T18:53:44Z</dcterms:modified>
</cp:coreProperties>
</file>